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Units</c:v>
                </c:pt>
              </c:strCache>
            </c:strRef>
          </c:tx>
          <c:spPr>
            <a:solidFill>
              <a:srgbClr val="596B4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135</c:v>
                </c:pt>
                <c:pt idx="2">
                  <c:v>149</c:v>
                </c:pt>
                <c:pt idx="3">
                  <c:v>162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Revenue ($k)</c:v>
                </c:pt>
              </c:strCache>
            </c:strRef>
          </c:tx>
          <c:spPr>
            <a:solidFill>
              <a:srgbClr val="A5987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245</c:v>
                </c:pt>
                <c:pt idx="1">
                  <c:v>278</c:v>
                </c:pt>
                <c:pt idx="2">
                  <c:v>301</c:v>
                </c:pt>
                <c:pt idx="3">
                  <c:v>337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Parent-level note: This deck is intentionally synthetic. It is designed to provide a bounded, known-good composite source for MetaRCI testing.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 component: This note is intentionally distinct from the visible slide text. It can be extracted separately and should not be assumed to have the same metadata scope as the slide body.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Chart note: The chart data is intentionally similar to the prior slide table so that the same conceptual data appears in two different presentation structures.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Embedded-video note: The video is synthetic and intentionally short. Its purpose is only to create a real temporal-media component inside the PPTX package.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96B45"/>
          </a:solidFill>
          <a:ln w="12700">
            <a:solidFill>
              <a:srgbClr val="596B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3737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MetaRCI · Composite Testbed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00800"/>
            <a:ext cx="41148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666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00800"/>
            <a:ext cx="41148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666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video" Target="../media/media-5-1.mp4"/><Relationship Id="rId2" Type="http://schemas.microsoft.com/office/2007/relationships/media" Target="../media/media-5-1.mp4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1051560"/>
            <a:ext cx="10652760" cy="4251960"/>
          </a:xfrm>
          <a:prstGeom prst="roundRect">
            <a:avLst>
              <a:gd name="adj" fmla="val 1720"/>
            </a:avLst>
          </a:prstGeom>
          <a:solidFill>
            <a:srgbClr val="EEE9DD"/>
          </a:solidFill>
          <a:ln w="13970">
            <a:solidFill>
              <a:srgbClr val="D8D0B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34440" y="187452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F35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Composite Testbed Presentation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417320" y="2761488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596B45"/>
                </a:solidFill>
              </a:rPr>
              <a:t>Synthetic PPTX for MetaRCI structural evaluation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965960" y="3657600"/>
            <a:ext cx="82296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A6A65"/>
                </a:solidFill>
              </a:rPr>
              <a:t>Contains text, notes, an embedded image, a native table, a native chart with underlying data, and embedded video.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00800"/>
            <a:ext cx="41148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666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F35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Text + Image + Speaker Notes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960120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6A65"/>
                </a:solidFill>
              </a:rPr>
              <a:t>A single slide with multiple meaningful component types.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85800" y="150876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96B45"/>
                </a:solidFill>
              </a:rPr>
              <a:t>Document-like content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" y="1938528"/>
            <a:ext cx="4617720" cy="1417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F352A"/>
                </a:solidFill>
              </a:rPr>
              <a:t>This text block is intentionally ordinary narrative content. </a:t>
            </a:r>
            <a:pPr indent="0" marL="0">
              <a:buNone/>
            </a:pPr>
            <a:r>
              <a:rPr lang="en-US" sz="1500" b="1" dirty="0">
                <a:solidFill>
                  <a:srgbClr val="2F352A"/>
                </a:solidFill>
              </a:rPr>
              <a:t>It can be treated independently from the embedded image</a:t>
            </a:r>
            <a:pPr indent="0" marL="0">
              <a:buNone/>
            </a:pPr>
            <a:r>
              <a:rPr lang="en-US" sz="1500" dirty="0">
                <a:solidFill>
                  <a:srgbClr val="2F352A"/>
                </a:solidFill>
              </a:rPr>
              <a:t> while both remain components of the same slide and presentation.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36576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352A"/>
                </a:solidFill>
              </a:rPr>
              <a:t>Example bullets: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3995928"/>
            <a:ext cx="4023360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90500" indent="-190500">
              <a:buSzPct val="100000"/>
              <a:buChar char="•"/>
            </a:pPr>
            <a:r>
              <a:rPr lang="en-US" sz="1300" dirty="0">
                <a:solidFill>
                  <a:srgbClr val="6A6A65"/>
                </a:solidFill>
              </a:rPr>
              <a:t>Ordered slide context</a:t>
            </a:r>
            <a:endParaRPr lang="en-US" sz="1300" dirty="0"/>
          </a:p>
          <a:p>
            <a:pPr marL="190500" indent="-190500">
              <a:buSzPct val="100000"/>
              <a:buChar char="•"/>
            </a:pPr>
            <a:r>
              <a:rPr lang="en-US" sz="1300" dirty="0">
                <a:solidFill>
                  <a:srgbClr val="6A6A65"/>
                </a:solidFill>
              </a:rPr>
              <a:t>Narrative text</a:t>
            </a:r>
            <a:endParaRPr lang="en-US" sz="1300" dirty="0"/>
          </a:p>
          <a:p>
            <a:pPr marL="190500" indent="-190500">
              <a:buSzPct val="100000"/>
              <a:buChar char="•"/>
            </a:pPr>
            <a:r>
              <a:rPr lang="en-US" sz="1300" dirty="0">
                <a:solidFill>
                  <a:srgbClr val="6A6A65"/>
                </a:solidFill>
              </a:rPr>
              <a:t>Embedded media</a:t>
            </a:r>
            <a:endParaRPr lang="en-US" sz="1300" dirty="0"/>
          </a:p>
          <a:p>
            <a:pPr marL="190500" indent="-190500">
              <a:buSzPct val="100000"/>
              <a:buChar char="•"/>
            </a:pPr>
            <a:r>
              <a:rPr lang="en-US" sz="1300" dirty="0">
                <a:solidFill>
                  <a:srgbClr val="6A6A65"/>
                </a:solidFill>
              </a:rPr>
              <a:t>Speaker notes</a:t>
            </a:r>
            <a:endParaRPr lang="en-US" sz="1300" dirty="0"/>
          </a:p>
        </p:txBody>
      </p:sp>
      <p:pic>
        <p:nvPicPr>
          <p:cNvPr id="8" name="Image 0" descr="/mnt/data/composite_testbed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1572768"/>
            <a:ext cx="5257800" cy="32461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0" y="50017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A6A65"/>
                </a:solidFill>
              </a:rPr>
              <a:t>Embedded PNG image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00800"/>
            <a:ext cx="41148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666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F35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Native Table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960120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6A65"/>
                </a:solidFill>
              </a:rPr>
              <a:t>Structured data represented directly inside the presentation.</a:t>
            </a:r>
            <a:endParaRPr lang="en-US" sz="11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60120" y="1600200"/>
          <a:ext cx="10149840" cy="2377440"/>
        </p:xfrm>
        <a:graphic>
          <a:graphicData uri="http://schemas.openxmlformats.org/drawingml/2006/table">
            <a:tbl>
              <a:tblPr/>
              <a:tblGrid>
                <a:gridCol w="1828800"/>
                <a:gridCol w="2194560"/>
                <a:gridCol w="2834640"/>
                <a:gridCol w="274320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Quarter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B8B2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2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2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2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6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Units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B8B2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2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2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2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6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Revenue ($k)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B8B2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2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2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2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6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Status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B8B2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2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2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2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6B4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F35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Q1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B8B2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2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2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2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F35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120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B8B2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2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2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2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F35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245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B8B2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2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2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2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F35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Complete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B8B2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2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2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2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F35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Q2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B8B2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2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2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2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F35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135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B8B2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2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2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2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F35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278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B8B2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2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2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2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F35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Complete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B8B2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2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2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2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F35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Q3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B8B2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2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2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2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F35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149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B8B2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2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2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2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F35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301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B8B2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2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2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2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F35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Complete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B8B2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2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2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2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F35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Q4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B8B2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2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2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2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F35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162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B8B2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2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2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2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F35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337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B8B2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2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2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2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F35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Projected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B8B2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2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2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2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051560" y="4370832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A6A65"/>
                </a:solidFill>
              </a:rPr>
              <a:t>The table is a first-class PowerPoint table object, not a screenshot.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1965960" y="5074920"/>
            <a:ext cx="8229600" cy="0"/>
          </a:xfrm>
          <a:prstGeom prst="line">
            <a:avLst/>
          </a:prstGeom>
          <a:noFill/>
          <a:ln w="15240">
            <a:solidFill>
              <a:srgbClr val="D8D0B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828800" y="525780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96B45"/>
                </a:solidFill>
              </a:rPr>
              <a:t>Composite pressure: presentation context + table structure + slide ordering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00800"/>
            <a:ext cx="41148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666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F35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Native Chart with Underlying Data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960120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6A65"/>
                </a:solidFill>
              </a:rPr>
              <a:t>Chart semantics and source data coexist inside the PPTX package.</a:t>
            </a:r>
            <a:endParaRPr lang="en-US" sz="11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868680" y="1508760"/>
          <a:ext cx="667512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909560" y="1664208"/>
            <a:ext cx="3429000" cy="3520440"/>
          </a:xfrm>
          <a:prstGeom prst="roundRect">
            <a:avLst>
              <a:gd name="adj" fmla="val 1333"/>
            </a:avLst>
          </a:prstGeom>
          <a:solidFill>
            <a:srgbClr val="ECE7DC"/>
          </a:solidFill>
          <a:ln w="12700">
            <a:solidFill>
              <a:srgbClr val="D8D0B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75320" y="1965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96B45"/>
                </a:solidFill>
              </a:rPr>
              <a:t>Why this matters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275320" y="2514600"/>
            <a:ext cx="2697480" cy="1965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2F352A"/>
                </a:solidFill>
              </a:rPr>
              <a:t>The chart has visible graphical meaning.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2F352A"/>
                </a:solidFill>
              </a:rPr>
              <a:t>It also carries structured series/category data.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2F352A"/>
                </a:solidFill>
              </a:rPr>
              <a:t>Both remain components of the parent slide/deck.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00800"/>
            <a:ext cx="41148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666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F35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Embedded Video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960120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6A65"/>
                </a:solidFill>
              </a:rPr>
              <a:t>Temporal media as a component of the same coherent presentation.</a:t>
            </a:r>
            <a:endParaRPr lang="en-US" sz="1150" dirty="0"/>
          </a:p>
        </p:txBody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051560" y="1554480"/>
            <a:ext cx="6675120" cy="3749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092440" y="1737360"/>
            <a:ext cx="3108960" cy="3337560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D8D0B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394192" y="20116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96B45"/>
                </a:solidFill>
              </a:rPr>
              <a:t>Component inventory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366760" y="2606040"/>
            <a:ext cx="2606040" cy="1828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2F352A"/>
                </a:solidFill>
              </a:rPr>
              <a:t>Parent: PPTX presentation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2F352A"/>
                </a:solidFill>
              </a:rPr>
              <a:t>Slide: ordered component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2F352A"/>
                </a:solidFill>
              </a:rPr>
              <a:t>Video: temporal Media component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2F352A"/>
                </a:solidFill>
              </a:rPr>
              <a:t>Notes: Document-like component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2514600" y="54864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A6A65"/>
                </a:solidFill>
              </a:rPr>
              <a:t>Synthetic 3-second MP4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00800"/>
            <a:ext cx="41148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666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MetaRCI Testbed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Composite Testbed Presentation</dc:title>
  <dc:subject>Synthetic PPTX for MetaRCI Composite profile testing</dc:subject>
  <dc:creator>OpenAI</dc:creator>
  <cp:lastModifiedBy>OpenAI</cp:lastModifiedBy>
  <cp:revision>1</cp:revision>
  <dcterms:created xsi:type="dcterms:W3CDTF">2026-08-11T19:56:42Z</dcterms:created>
  <dcterms:modified xsi:type="dcterms:W3CDTF">2026-08-11T19:56:42Z</dcterms:modified>
</cp:coreProperties>
</file>